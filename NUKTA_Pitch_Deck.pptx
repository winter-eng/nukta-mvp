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63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32946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2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11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microsoft.com/office/2007/relationships/hdphoto" Target="../media/hdphoto2.wdp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34095" y="0"/>
            <a:ext cx="3657600" cy="6858000"/>
          </a:xfrm>
          <a:prstGeom prst="rect">
            <a:avLst/>
          </a:prstGeom>
          <a:solidFill>
            <a:srgbClr val="FFF4EE"/>
          </a:solidFill>
          <a:ln/>
        </p:spPr>
      </p:sp>
      <p:sp>
        <p:nvSpPr>
          <p:cNvPr id="3" name="Shape 1"/>
          <p:cNvSpPr/>
          <p:nvPr/>
        </p:nvSpPr>
        <p:spPr>
          <a:xfrm>
            <a:off x="8534095" y="0"/>
            <a:ext cx="109728" cy="6858000"/>
          </a:xfrm>
          <a:prstGeom prst="rect">
            <a:avLst/>
          </a:prstGeom>
          <a:solidFill>
            <a:srgbClr val="FF5A1F"/>
          </a:solidFill>
          <a:ln/>
        </p:spPr>
      </p:sp>
      <p:sp>
        <p:nvSpPr>
          <p:cNvPr id="5" name="Shape 2"/>
          <p:cNvSpPr/>
          <p:nvPr/>
        </p:nvSpPr>
        <p:spPr>
          <a:xfrm>
            <a:off x="731520" y="1371600"/>
            <a:ext cx="457200" cy="73152"/>
          </a:xfrm>
          <a:prstGeom prst="rect">
            <a:avLst/>
          </a:prstGeom>
          <a:solidFill>
            <a:srgbClr val="FF5A1F"/>
          </a:solidFill>
          <a:ln/>
        </p:spPr>
      </p:sp>
      <p:sp>
        <p:nvSpPr>
          <p:cNvPr id="6" name="Text 3"/>
          <p:cNvSpPr/>
          <p:nvPr/>
        </p:nvSpPr>
        <p:spPr>
          <a:xfrm>
            <a:off x="1280160" y="12801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FF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IDEATHON · ЯНГИЕР · 30.04.2026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31520" y="16916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kern="0" spc="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NUKTA</a:t>
            </a:r>
            <a:endParaRPr lang="en-US" sz="9600" dirty="0"/>
          </a:p>
        </p:txBody>
      </p:sp>
      <p:sp>
        <p:nvSpPr>
          <p:cNvPr id="8" name="Shape 5"/>
          <p:cNvSpPr/>
          <p:nvPr/>
        </p:nvSpPr>
        <p:spPr>
          <a:xfrm>
            <a:off x="4085272" y="2617470"/>
            <a:ext cx="170022" cy="160020"/>
          </a:xfrm>
          <a:prstGeom prst="ellipse">
            <a:avLst/>
          </a:prstGeom>
          <a:solidFill>
            <a:srgbClr val="FF5A1F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&amp; SHARE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31520" y="3611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Твой город — твоя витрина.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731520" y="42976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Децентрализованная сеть микро-точек продаж: превращаем пустые полки города в безопасные витрины для малого бизнеса.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31520" y="5440680"/>
            <a:ext cx="365760" cy="36576"/>
          </a:xfrm>
          <a:prstGeom prst="rect">
            <a:avLst/>
          </a:prstGeom>
          <a:solidFill>
            <a:srgbClr val="FF5A1F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5532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КОМАНДА: Садыков · Буранов · Захарян · Носиров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31520" y="5852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Трек: E-COMMERCE   ·   Город: Янгиер, Сырдарьинская обл.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808415" y="5074920"/>
            <a:ext cx="30175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9050">
            <a:solidFill>
              <a:srgbClr val="FF5A1F"/>
            </a:solidFill>
            <a:prstDash val="solid"/>
          </a:ln>
          <a:effectLst>
            <a:outerShdw blurRad="101600" dist="25400" dir="5400000" algn="bl" rotWithShape="0">
              <a:srgbClr val="1E293B">
                <a:alpha val="6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945575" y="5166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KILL-ФИШКА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945575" y="5440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Открыть магазин: $5 000+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945575" y="5715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Открыть точку NUKTA: $0</a:t>
            </a:r>
            <a:endParaRPr lang="en-US" sz="1600" dirty="0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D962DBE2-B10F-B590-5B12-84463752F7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786" b="91281" l="6050" r="96797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011561" y="1568643"/>
            <a:ext cx="2825198" cy="282519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20040" cy="73152"/>
          </a:xfrm>
          <a:prstGeom prst="rect">
            <a:avLst/>
          </a:prstGeom>
          <a:solidFill>
            <a:srgbClr val="FF5A1F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FF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 · 1 ИЗ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Аренда съедает бизнес заживо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03520" cy="4297680"/>
          </a:xfrm>
          <a:prstGeom prst="roundRect">
            <a:avLst>
              <a:gd name="adj" fmla="val 3191"/>
            </a:avLst>
          </a:prstGeom>
          <a:solidFill>
            <a:srgbClr val="FFF4EE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83080"/>
            <a:ext cx="109728" cy="4297680"/>
          </a:xfrm>
          <a:prstGeom prst="rect">
            <a:avLst/>
          </a:prstGeom>
          <a:solidFill>
            <a:srgbClr val="FF5A1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0116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0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ТЕРЯЕТ ПРЕДПРИНИМАТЕЛЬ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37744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400" b="1" dirty="0">
                <a:solidFill>
                  <a:srgbClr val="FF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4400" dirty="0"/>
          </a:p>
        </p:txBody>
      </p:sp>
      <p:sp>
        <p:nvSpPr>
          <p:cNvPr id="9" name="Text 7"/>
          <p:cNvSpPr/>
          <p:nvPr/>
        </p:nvSpPr>
        <p:spPr>
          <a:xfrm>
            <a:off x="868680" y="429768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прибыли малого бизнеса в Янгиере уходит на аренду стен — а не на продукт.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68680" y="5486400"/>
            <a:ext cx="274320" cy="36576"/>
          </a:xfrm>
          <a:prstGeom prst="rect">
            <a:avLst/>
          </a:prstGeom>
          <a:solidFill>
            <a:srgbClr val="FF5A1F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55778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Стены — это не бизнес. Стены — налог на смелость.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09360" y="17830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ЖИВОЙ СЦЕНАРИЙ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09360" y="21031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 Янгиера хочет продавать домашнее печенье.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309360" y="3017520"/>
            <a:ext cx="5394960" cy="5943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5" name="Shape 13"/>
          <p:cNvSpPr/>
          <p:nvPr/>
        </p:nvSpPr>
        <p:spPr>
          <a:xfrm>
            <a:off x="6309360" y="3017520"/>
            <a:ext cx="54864" cy="5943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30632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Аренда помещения (мин.)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92640" y="30632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 / мес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09360" y="3749040"/>
            <a:ext cx="5394960" cy="5943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9" name="Shape 17"/>
          <p:cNvSpPr/>
          <p:nvPr/>
        </p:nvSpPr>
        <p:spPr>
          <a:xfrm>
            <a:off x="6309360" y="3749040"/>
            <a:ext cx="54864" cy="5943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37947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Ремонт + витрина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692640" y="37947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$2 000 единоразово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309360" y="4480560"/>
            <a:ext cx="5394960" cy="5943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3" name="Shape 21"/>
          <p:cNvSpPr/>
          <p:nvPr/>
        </p:nvSpPr>
        <p:spPr>
          <a:xfrm>
            <a:off x="6309360" y="4480560"/>
            <a:ext cx="54864" cy="5943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0" y="45262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Продавец на смене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692640" y="4526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 / мес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309360" y="5349240"/>
            <a:ext cx="5394960" cy="73152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0" y="54406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 ПЕРЕД ПЕРВОЙ ПРОДАЖЕЙ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692640" y="53492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FF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$5 000+</a:t>
            </a:r>
            <a:endParaRPr lang="en-US" sz="2600" dirty="0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446520"/>
            <a:ext cx="256032" cy="256032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713232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NUKTA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1463040" y="64465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&amp; SHARE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1094415" y="64465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11780215" y="6547104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20040" cy="73152"/>
          </a:xfrm>
          <a:prstGeom prst="rect">
            <a:avLst/>
          </a:prstGeom>
          <a:solidFill>
            <a:srgbClr val="FF5A1F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FF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 · 2 ИЗ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Вакуум доверия в P2P-торговле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86400" cy="4251960"/>
          </a:xfrm>
          <a:prstGeom prst="roundRect">
            <a:avLst>
              <a:gd name="adj" fmla="val 322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01168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011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ПОКУПАТЕЛЬ БОИТСЯ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554480" y="2286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«Кота в мешке»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868680" y="2880360"/>
            <a:ext cx="54864" cy="914400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2926080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288036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Яд / некачественная еда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417320" y="324612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OLX никто не проверяет домашнюю продукцию.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68680" y="3931920"/>
            <a:ext cx="54864" cy="914400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3977640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393192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Просрочка под видом нового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417320" y="429768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Этикетку легко переклеить — никто не контролирует.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868680" y="4983480"/>
            <a:ext cx="54864" cy="914400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560" y="5029200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17320" y="498348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Брак и подмена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1417320" y="534924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Купил телефон — внутри кирпич. Продавец исчез.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6263640" y="1783080"/>
            <a:ext cx="5486400" cy="4251960"/>
          </a:xfrm>
          <a:prstGeom prst="roundRect">
            <a:avLst>
              <a:gd name="adj" fmla="val 322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0" y="2011680"/>
            <a:ext cx="502920" cy="5029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269480" y="2011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ПРОДАВЕЦ БОИТСЯ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7269480" y="22860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Хитрого покупателя</a:t>
            </a:r>
            <a:endParaRPr lang="en-US" sz="2200" dirty="0"/>
          </a:p>
        </p:txBody>
      </p:sp>
      <p:sp>
        <p:nvSpPr>
          <p:cNvPr id="25" name="Shape 18"/>
          <p:cNvSpPr/>
          <p:nvPr/>
        </p:nvSpPr>
        <p:spPr>
          <a:xfrm>
            <a:off x="6583680" y="2880360"/>
            <a:ext cx="54864" cy="914400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6560" y="2926080"/>
            <a:ext cx="292608" cy="29260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132320" y="288036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«Фейковый брак»</a:t>
            </a:r>
            <a:endParaRPr lang="en-US" sz="1400" dirty="0"/>
          </a:p>
        </p:txBody>
      </p:sp>
      <p:sp>
        <p:nvSpPr>
          <p:cNvPr id="28" name="Text 20"/>
          <p:cNvSpPr/>
          <p:nvPr/>
        </p:nvSpPr>
        <p:spPr>
          <a:xfrm>
            <a:off x="7132320" y="324612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Покупатель ломает товар дома и требует возврат.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6583680" y="3931920"/>
            <a:ext cx="54864" cy="914400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66560" y="3977640"/>
            <a:ext cx="292608" cy="292608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132320" y="393192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Мошеннический возврат</a:t>
            </a:r>
            <a:endParaRPr lang="en-US" sz="1400" dirty="0"/>
          </a:p>
        </p:txBody>
      </p:sp>
      <p:sp>
        <p:nvSpPr>
          <p:cNvPr id="32" name="Text 23"/>
          <p:cNvSpPr/>
          <p:nvPr/>
        </p:nvSpPr>
        <p:spPr>
          <a:xfrm>
            <a:off x="7132320" y="429768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Подменил оригинал на копию и вернул.</a:t>
            </a:r>
            <a:endParaRPr lang="en-US" sz="1100" dirty="0"/>
          </a:p>
        </p:txBody>
      </p:sp>
      <p:sp>
        <p:nvSpPr>
          <p:cNvPr id="33" name="Shape 24"/>
          <p:cNvSpPr/>
          <p:nvPr/>
        </p:nvSpPr>
        <p:spPr>
          <a:xfrm>
            <a:off x="6583680" y="4983480"/>
            <a:ext cx="54864" cy="914400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5029200"/>
            <a:ext cx="292608" cy="292608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7132320" y="498348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Ложные отзывы</a:t>
            </a:r>
            <a:endParaRPr lang="en-US" sz="1400" dirty="0"/>
          </a:p>
        </p:txBody>
      </p:sp>
      <p:sp>
        <p:nvSpPr>
          <p:cNvPr id="36" name="Text 26"/>
          <p:cNvSpPr/>
          <p:nvPr/>
        </p:nvSpPr>
        <p:spPr>
          <a:xfrm>
            <a:off x="7132320" y="534924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 топит репутацию через вбросы.</a:t>
            </a:r>
            <a:endParaRPr lang="en-US" sz="1100" dirty="0"/>
          </a:p>
        </p:txBody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1480" y="6446520"/>
            <a:ext cx="256032" cy="256032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713232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NUKTA</a:t>
            </a:r>
            <a:endParaRPr lang="en-US" sz="1100" dirty="0"/>
          </a:p>
        </p:txBody>
      </p:sp>
      <p:sp>
        <p:nvSpPr>
          <p:cNvPr id="39" name="Text 28"/>
          <p:cNvSpPr/>
          <p:nvPr/>
        </p:nvSpPr>
        <p:spPr>
          <a:xfrm>
            <a:off x="1463040" y="64465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&amp; SHARE</a:t>
            </a:r>
            <a:endParaRPr lang="en-US" sz="900" dirty="0"/>
          </a:p>
        </p:txBody>
      </p:sp>
      <p:sp>
        <p:nvSpPr>
          <p:cNvPr id="40" name="Text 29"/>
          <p:cNvSpPr/>
          <p:nvPr/>
        </p:nvSpPr>
        <p:spPr>
          <a:xfrm>
            <a:off x="11094415" y="64465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00" dirty="0"/>
          </a:p>
        </p:txBody>
      </p:sp>
      <p:sp>
        <p:nvSpPr>
          <p:cNvPr id="41" name="Shape 30"/>
          <p:cNvSpPr/>
          <p:nvPr/>
        </p:nvSpPr>
        <p:spPr>
          <a:xfrm>
            <a:off x="11780215" y="6547104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20040" cy="73152"/>
          </a:xfrm>
          <a:prstGeom prst="rect">
            <a:avLst/>
          </a:prstGeom>
          <a:solidFill>
            <a:srgbClr val="FF5A1F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FF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 · 3 ИЗ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Город теряет деньги на пустоте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В ЯНГИЕРЕ (оценка)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b="1" dirty="0">
                <a:solidFill>
                  <a:srgbClr val="FF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1 200+</a:t>
            </a:r>
            <a:endParaRPr lang="en-US" sz="11000" dirty="0"/>
          </a:p>
        </p:txBody>
      </p:sp>
      <p:sp>
        <p:nvSpPr>
          <p:cNvPr id="7" name="Text 5"/>
          <p:cNvSpPr/>
          <p:nvPr/>
        </p:nvSpPr>
        <p:spPr>
          <a:xfrm>
            <a:off x="548640" y="370332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«мёртвых» квадратных метров в кафе, аптеках и салонах — пустые подоконники, стены, углы.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754880"/>
            <a:ext cx="274320" cy="36576"/>
          </a:xfrm>
          <a:prstGeom prst="rect">
            <a:avLst/>
          </a:prstGeom>
          <a:solidFill>
            <a:srgbClr val="FF5A1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84632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из них — потерянная торговая точка для местного производителя.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0" y="18288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СПРЯТАНЫ ДЕНЬГИ?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0" y="2194560"/>
            <a:ext cx="25146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93B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0" y="2194560"/>
            <a:ext cx="2514600" cy="54864"/>
          </a:xfrm>
          <a:prstGeom prst="rect">
            <a:avLst/>
          </a:prstGeom>
          <a:solidFill>
            <a:srgbClr val="FF5A1F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468880"/>
            <a:ext cx="502920" cy="5029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629400" y="30632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Аптеки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629400" y="3429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Свободные витрины у кассы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9098280" y="2194560"/>
            <a:ext cx="25146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93B">
                <a:alpha val="6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9098280" y="2194560"/>
            <a:ext cx="2514600" cy="54864"/>
          </a:xfrm>
          <a:prstGeom prst="rect">
            <a:avLst/>
          </a:prstGeom>
          <a:solidFill>
            <a:srgbClr val="FF5A1F"/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2468880"/>
            <a:ext cx="502920" cy="5029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9326880" y="30632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Кафе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9326880" y="3429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Подоконники, стены у входа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400800" y="4023360"/>
            <a:ext cx="25146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93B">
                <a:alpha val="6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400800" y="4023360"/>
            <a:ext cx="2514600" cy="54864"/>
          </a:xfrm>
          <a:prstGeom prst="rect">
            <a:avLst/>
          </a:prstGeom>
          <a:solidFill>
            <a:srgbClr val="FF5A1F"/>
          </a:solidFill>
          <a:ln/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4297680"/>
            <a:ext cx="502920" cy="5029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629400" y="4892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Учебные центры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6629400" y="5257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Холлы, рецепции, коридоры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9098280" y="4023360"/>
            <a:ext cx="25146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93B">
                <a:alpha val="6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9098280" y="4023360"/>
            <a:ext cx="2514600" cy="54864"/>
          </a:xfrm>
          <a:prstGeom prst="rect">
            <a:avLst/>
          </a:prstGeom>
          <a:solidFill>
            <a:srgbClr val="FF5A1F"/>
          </a:solidFill>
          <a:ln/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0" y="4297680"/>
            <a:ext cx="502920" cy="50292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326880" y="4892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Парикмахерские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9326880" y="5257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Полки и зоны ожидания</a:t>
            </a:r>
            <a:endParaRPr lang="en-US" sz="1100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6446520"/>
            <a:ext cx="256032" cy="25603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13232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NUKTA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1463040" y="64465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&amp; SHARE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11094415" y="64465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11780215" y="6547104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20040" cy="73152"/>
          </a:xfrm>
          <a:prstGeom prst="rect">
            <a:avLst/>
          </a:prstGeom>
          <a:solidFill>
            <a:srgbClr val="FF5A1F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FF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NUKTA — Airbnb для торговых полок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Любой пустой метр в городе превращается в безопасную автономную точку продаж.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3611880" cy="288036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77800" dist="38100" dir="5400000" algn="bl" rotWithShape="0">
              <a:srgbClr val="1E293B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377440"/>
            <a:ext cx="3611880" cy="73152"/>
          </a:xfrm>
          <a:prstGeom prst="rect">
            <a:avLst/>
          </a:prstGeom>
          <a:solidFill>
            <a:srgbClr val="FF5A1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6517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E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2743200"/>
            <a:ext cx="548640" cy="548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34747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Хост размещает полку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22960" y="406908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Хозяин кафе/аптеки фоткает свободное место в приложении. Цена — 5% с продаж.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114800" y="27432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4370832" y="2377440"/>
            <a:ext cx="3611880" cy="288036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77800" dist="38100" dir="5400000" algn="bl" rotWithShape="0">
              <a:srgbClr val="1E293B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370832" y="2377440"/>
            <a:ext cx="3611880" cy="73152"/>
          </a:xfrm>
          <a:prstGeom prst="rect">
            <a:avLst/>
          </a:prstGeom>
          <a:solidFill>
            <a:srgbClr val="FF5A1F"/>
          </a:solidFill>
          <a:ln/>
        </p:spPr>
      </p:sp>
      <p:sp>
        <p:nvSpPr>
          <p:cNvPr id="15" name="Text 12"/>
          <p:cNvSpPr/>
          <p:nvPr/>
        </p:nvSpPr>
        <p:spPr>
          <a:xfrm>
            <a:off x="4645152" y="26517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E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4032" y="2743200"/>
            <a:ext cx="548640" cy="5486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645152" y="34747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Продавец бронирует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4645152" y="406908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 или мастер выбирает точку, везёт товар в опломбированной упаковке.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7936992" y="27432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20" name="Shape 16"/>
          <p:cNvSpPr/>
          <p:nvPr/>
        </p:nvSpPr>
        <p:spPr>
          <a:xfrm>
            <a:off x="8193024" y="2377440"/>
            <a:ext cx="3611880" cy="288036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77800" dist="38100" dir="5400000" algn="bl" rotWithShape="0">
              <a:srgbClr val="1E293B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193024" y="2377440"/>
            <a:ext cx="3611880" cy="73152"/>
          </a:xfrm>
          <a:prstGeom prst="rect">
            <a:avLst/>
          </a:prstGeom>
          <a:solidFill>
            <a:srgbClr val="FF5A1F"/>
          </a:solidFill>
          <a:ln/>
        </p:spPr>
      </p:sp>
      <p:sp>
        <p:nvSpPr>
          <p:cNvPr id="22" name="Text 18"/>
          <p:cNvSpPr/>
          <p:nvPr/>
        </p:nvSpPr>
        <p:spPr>
          <a:xfrm>
            <a:off x="8467344" y="26517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E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36224" y="2743200"/>
            <a:ext cx="548640" cy="54864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467344" y="34747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Покупатель забирает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8467344" y="406908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Сканирует QR на ценнике, оплачивает в телефоне, забирает товар. Без продавца.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548640" y="548640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FFF4EE"/>
          </a:solidFill>
          <a:ln w="12700">
            <a:solidFill>
              <a:srgbClr val="FF5A1F"/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650992"/>
            <a:ext cx="457200" cy="4572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371600" y="56509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0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KILL-ФИШКА: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1371600" y="5897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Магазин без продавца. Бизнес без аренды. Склад без склада — нашим складом является весь город.</a:t>
            </a:r>
            <a:endParaRPr lang="en-US" sz="1300" dirty="0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6446520"/>
            <a:ext cx="256032" cy="25603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13232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NUKTA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1463040" y="64465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&amp; SHARE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11094415" y="64465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11780215" y="6547104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20040" cy="73152"/>
          </a:xfrm>
          <a:prstGeom prst="rect">
            <a:avLst/>
          </a:prstGeom>
          <a:solidFill>
            <a:srgbClr val="FF5A1F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FF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 · АНТИ-ЯД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Тройной барьер безопасности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Софт не может понюхать еду — но мы делаем риск невыгодным.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3611880" cy="4069080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77800" dist="38100" dir="5400000" algn="bl" rotWithShape="0">
              <a:srgbClr val="1E293B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194560"/>
            <a:ext cx="3611880" cy="91440"/>
          </a:xfrm>
          <a:prstGeom prst="rect">
            <a:avLst/>
          </a:prstGeom>
          <a:solidFill>
            <a:srgbClr val="FF5A1F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2468880"/>
            <a:ext cx="777240" cy="777240"/>
          </a:xfrm>
          <a:prstGeom prst="ellipse">
            <a:avLst/>
          </a:prstGeom>
          <a:solidFill>
            <a:srgbClr val="FFF4EE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60604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33375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ФИЗИЧЕСКИЙ БАРЬЕР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22960" y="36118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Seal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22960" y="4206240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Товар обязан быть в прозрачной упаковке с контрольной пломбой. Хозяин точки делает 3 фото при приёмке — нулевой чек-ин.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22960" y="5394960"/>
            <a:ext cx="3063240" cy="36576"/>
          </a:xfrm>
          <a:prstGeom prst="rect">
            <a:avLst/>
          </a:prstGeom>
          <a:solidFill>
            <a:srgbClr val="FF5A1F"/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" y="54864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E0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Сорванная пломба = автоматический отказ в выдаче.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370832" y="2194560"/>
            <a:ext cx="3611880" cy="4069080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77800" dist="38100" dir="5400000" algn="bl" rotWithShape="0">
              <a:srgbClr val="1E293B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370832" y="2194560"/>
            <a:ext cx="3611880" cy="91440"/>
          </a:xfrm>
          <a:prstGeom prst="rect">
            <a:avLst/>
          </a:prstGeom>
          <a:solidFill>
            <a:srgbClr val="FF5A1F"/>
          </a:solidFill>
          <a:ln/>
        </p:spPr>
      </p:sp>
      <p:sp>
        <p:nvSpPr>
          <p:cNvPr id="17" name="Shape 14"/>
          <p:cNvSpPr/>
          <p:nvPr/>
        </p:nvSpPr>
        <p:spPr>
          <a:xfrm>
            <a:off x="4645152" y="2468880"/>
            <a:ext cx="777240" cy="777240"/>
          </a:xfrm>
          <a:prstGeom prst="ellipse">
            <a:avLst/>
          </a:prstGeom>
          <a:solidFill>
            <a:srgbClr val="FFF4EE"/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2312" y="2606040"/>
            <a:ext cx="502920" cy="5029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645152" y="33375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ЦИФРОВОЙ БАРЬЕР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4645152" y="36118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Expiry (OCR)</a:t>
            </a:r>
            <a:endParaRPr lang="en-US" sz="2200" dirty="0"/>
          </a:p>
        </p:txBody>
      </p:sp>
      <p:sp>
        <p:nvSpPr>
          <p:cNvPr id="21" name="Text 17"/>
          <p:cNvSpPr/>
          <p:nvPr/>
        </p:nvSpPr>
        <p:spPr>
          <a:xfrm>
            <a:off x="4645152" y="4206240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считывает срок годности с фото при загрузке товара. Tesseract OCR + regex по дате. Меньше 24ч до конца срока — QR-код самоблокируется.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4645152" y="5394960"/>
            <a:ext cx="3063240" cy="36576"/>
          </a:xfrm>
          <a:prstGeom prst="rect">
            <a:avLst/>
          </a:prstGeom>
          <a:solidFill>
            <a:srgbClr val="FF5A1F"/>
          </a:solidFill>
          <a:ln/>
        </p:spPr>
      </p:sp>
      <p:sp>
        <p:nvSpPr>
          <p:cNvPr id="23" name="Text 19"/>
          <p:cNvSpPr/>
          <p:nvPr/>
        </p:nvSpPr>
        <p:spPr>
          <a:xfrm>
            <a:off x="4645152" y="54864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E0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Просрочку физически невозможно оплатить.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8193024" y="2194560"/>
            <a:ext cx="3611880" cy="4069080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77800" dist="38100" dir="5400000" algn="bl" rotWithShape="0">
              <a:srgbClr val="1E293B">
                <a:alpha val="8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8193024" y="2194560"/>
            <a:ext cx="3611880" cy="91440"/>
          </a:xfrm>
          <a:prstGeom prst="rect">
            <a:avLst/>
          </a:prstGeom>
          <a:solidFill>
            <a:srgbClr val="FF5A1F"/>
          </a:solidFill>
          <a:ln/>
        </p:spPr>
      </p:sp>
      <p:sp>
        <p:nvSpPr>
          <p:cNvPr id="26" name="Shape 22"/>
          <p:cNvSpPr/>
          <p:nvPr/>
        </p:nvSpPr>
        <p:spPr>
          <a:xfrm>
            <a:off x="8467344" y="2468880"/>
            <a:ext cx="777240" cy="777240"/>
          </a:xfrm>
          <a:prstGeom prst="ellipse">
            <a:avLst/>
          </a:prstGeom>
          <a:solidFill>
            <a:srgbClr val="FFF4EE"/>
          </a:solidFill>
          <a:ln/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4504" y="2606040"/>
            <a:ext cx="502920" cy="50292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8467344" y="33375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ЮРИДИЧЕСКИЙ БАРЬЕР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8467344" y="36118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по паспорту</a:t>
            </a:r>
            <a:endParaRPr lang="en-US" sz="2200" dirty="0"/>
          </a:p>
        </p:txBody>
      </p:sp>
      <p:sp>
        <p:nvSpPr>
          <p:cNvPr id="30" name="Text 25"/>
          <p:cNvSpPr/>
          <p:nvPr/>
        </p:nvSpPr>
        <p:spPr>
          <a:xfrm>
            <a:off x="8467344" y="4206240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Полная деанонимизация продавца. Лицензирование категорий: домашняя еда — только при загруженном сертификате. Нет справки → кнопка «Продать» заблокирована на бэкенде.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8467344" y="5394960"/>
            <a:ext cx="3063240" cy="36576"/>
          </a:xfrm>
          <a:prstGeom prst="rect">
            <a:avLst/>
          </a:prstGeom>
          <a:solidFill>
            <a:srgbClr val="FF5A1F"/>
          </a:solidFill>
          <a:ln/>
        </p:spPr>
      </p:sp>
      <p:sp>
        <p:nvSpPr>
          <p:cNvPr id="32" name="Text 27"/>
          <p:cNvSpPr/>
          <p:nvPr/>
        </p:nvSpPr>
        <p:spPr>
          <a:xfrm>
            <a:off x="8467344" y="54864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E0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Хочешь продать «яд»? Уголовка с готовой доказательной базой.</a:t>
            </a:r>
            <a:endParaRPr lang="en-US" sz="1100" dirty="0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6446520"/>
            <a:ext cx="256032" cy="256032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713232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NUKTA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1463040" y="64465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&amp; SHARE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11094415" y="64465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11780215" y="6547104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20040" cy="73152"/>
          </a:xfrm>
          <a:prstGeom prst="rect">
            <a:avLst/>
          </a:prstGeom>
          <a:solidFill>
            <a:srgbClr val="FF5A1F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FF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 · АНТИ-ФРОД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Хост-арбитраж и Point-of-Sale Video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2240280"/>
          </a:xfrm>
          <a:prstGeom prst="roundRect">
            <a:avLst>
              <a:gd name="adj" fmla="val 61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91640"/>
            <a:ext cx="109728" cy="2240280"/>
          </a:xfrm>
          <a:prstGeom prst="rect">
            <a:avLst/>
          </a:prstGeom>
          <a:solidFill>
            <a:srgbClr val="FF5A1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92024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ПРОТОКОЛ 01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508760" y="21031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Point-of-Sale Video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68680" y="2697480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Покупатель обязан снять видео вскрытия товара прямо у полки. Ушёл от точки — спор не открывается. «Ты видел, что брал».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63640" y="1691640"/>
            <a:ext cx="5486400" cy="2240280"/>
          </a:xfrm>
          <a:prstGeom prst="roundRect">
            <a:avLst>
              <a:gd name="adj" fmla="val 61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63640" y="1691640"/>
            <a:ext cx="109728" cy="2240280"/>
          </a:xfrm>
          <a:prstGeom prst="rect">
            <a:avLst/>
          </a:prstGeom>
          <a:solidFill>
            <a:srgbClr val="FF5A1F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92024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2376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ПРОТОКОЛ 02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7223760" y="21031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Хост-Арбитраж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6583680" y="2697480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Хозяин заведения — независимое 3-е лицо. В споре подтверждает состояние товара. Голос Хоста весит 70% в системе рейтинга.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48640" y="4114800"/>
            <a:ext cx="36118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93B">
                <a:alpha val="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48640" y="4114800"/>
            <a:ext cx="54864" cy="2011680"/>
          </a:xfrm>
          <a:prstGeom prst="rect">
            <a:avLst/>
          </a:prstGeom>
          <a:solidFill>
            <a:srgbClr val="FF5A1F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38912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17320" y="43891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Score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822960" y="498348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 рейтинга. Частые ложные жалобы = бан безопасной сделки.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370832" y="4114800"/>
            <a:ext cx="36118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93B">
                <a:alpha val="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370832" y="4114800"/>
            <a:ext cx="54864" cy="2011680"/>
          </a:xfrm>
          <a:prstGeom prst="rect">
            <a:avLst/>
          </a:prstGeom>
          <a:solidFill>
            <a:srgbClr val="FF5A1F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5152" y="4389120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239512" y="43891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Fund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4645152" y="498348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 с каждой сделки → пул компенсаций при подтверждённом форс-мажоре.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8193024" y="4114800"/>
            <a:ext cx="36118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93B">
                <a:alpha val="6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8193024" y="4114800"/>
            <a:ext cx="54864" cy="2011680"/>
          </a:xfrm>
          <a:prstGeom prst="rect">
            <a:avLst/>
          </a:prstGeom>
          <a:solidFill>
            <a:srgbClr val="FF5A1F"/>
          </a:solidFill>
          <a:ln/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7344" y="4389120"/>
            <a:ext cx="457200" cy="45720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061704" y="43891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Stake-депозит</a:t>
            </a:r>
            <a:endParaRPr lang="en-US" sz="1600" dirty="0"/>
          </a:p>
        </p:txBody>
      </p:sp>
      <p:sp>
        <p:nvSpPr>
          <p:cNvPr id="31" name="Text 24"/>
          <p:cNvSpPr/>
          <p:nvPr/>
        </p:nvSpPr>
        <p:spPr>
          <a:xfrm>
            <a:off x="8467344" y="498348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продавца удерживается 50 000 сум. Подсунул брак — деньги уходят покупателю.</a:t>
            </a:r>
            <a:endParaRPr lang="en-US" sz="1100" dirty="0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480" y="6446520"/>
            <a:ext cx="256032" cy="25603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13232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NUKTA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1463040" y="64465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&amp; SHARE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094415" y="64465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11780215" y="6547104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20040" cy="73152"/>
          </a:xfrm>
          <a:prstGeom prst="rect">
            <a:avLst/>
          </a:prstGeom>
          <a:solidFill>
            <a:srgbClr val="FF5A1F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FF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ЭКОНОМИКА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Затраты ниже в 30 раз. Доход у всех.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ОТКРЫТИЕ ТОЧКИ ПРОДАЖ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486400" cy="2240280"/>
          </a:xfrm>
          <a:prstGeom prst="roundRect">
            <a:avLst>
              <a:gd name="adj" fmla="val 61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286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ТРАДИЦИОННЫЙ РИТЕЙЛ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$5 000+</a:t>
            </a:r>
            <a:endParaRPr lang="en-US" sz="64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6118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3000" y="358444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Аренда + ремонт + продавец на смене</a:t>
            </a:r>
            <a:endParaRPr lang="en-US" sz="12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950208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43000" y="39227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Окупаемость: от 12 месяцев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263640" y="2148840"/>
            <a:ext cx="5486400" cy="2240280"/>
          </a:xfrm>
          <a:prstGeom prst="roundRect">
            <a:avLst>
              <a:gd name="adj" fmla="val 6122"/>
            </a:avLst>
          </a:prstGeom>
          <a:solidFill>
            <a:srgbClr val="FFF4EE"/>
          </a:solidFill>
          <a:ln w="19050">
            <a:solidFill>
              <a:srgbClr val="FF5A1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492240" y="2286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0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NUKTA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492240" y="26060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64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361188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58000" y="358444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Нулевая аренда. Никакого продавца.</a:t>
            </a:r>
            <a:endParaRPr lang="en-US" sz="12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3950208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858000" y="39227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Окупаемость: с первой продажи.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548640" y="457200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РАСПРЕДЕЛЕНИЕ КАЖДОЙ ПРОДАЖИ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548640" y="4983480"/>
            <a:ext cx="10081260" cy="50292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22" name="Shape 16"/>
          <p:cNvSpPr/>
          <p:nvPr/>
        </p:nvSpPr>
        <p:spPr>
          <a:xfrm>
            <a:off x="10629900" y="4983480"/>
            <a:ext cx="560070" cy="502920"/>
          </a:xfrm>
          <a:prstGeom prst="rect">
            <a:avLst/>
          </a:prstGeom>
          <a:solidFill>
            <a:srgbClr val="FF5A1F"/>
          </a:solidFill>
          <a:ln/>
        </p:spPr>
      </p:sp>
      <p:sp>
        <p:nvSpPr>
          <p:cNvPr id="23" name="Shape 17"/>
          <p:cNvSpPr/>
          <p:nvPr/>
        </p:nvSpPr>
        <p:spPr>
          <a:xfrm>
            <a:off x="11189970" y="4983480"/>
            <a:ext cx="560070" cy="502920"/>
          </a:xfrm>
          <a:prstGeom prst="rect">
            <a:avLst/>
          </a:prstGeom>
          <a:solidFill>
            <a:srgbClr val="E04A12"/>
          </a:solidFill>
          <a:ln/>
        </p:spPr>
      </p:sp>
      <p:sp>
        <p:nvSpPr>
          <p:cNvPr id="24" name="Text 18"/>
          <p:cNvSpPr/>
          <p:nvPr/>
        </p:nvSpPr>
        <p:spPr>
          <a:xfrm>
            <a:off x="548640" y="4983480"/>
            <a:ext cx="100812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 ПРОДАВЦУ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548640" y="5760720"/>
            <a:ext cx="228600" cy="22860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26" name="Text 20"/>
          <p:cNvSpPr/>
          <p:nvPr/>
        </p:nvSpPr>
        <p:spPr>
          <a:xfrm>
            <a:off x="868680" y="56692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2200" dirty="0"/>
          </a:p>
        </p:txBody>
      </p:sp>
      <p:sp>
        <p:nvSpPr>
          <p:cNvPr id="27" name="Text 21"/>
          <p:cNvSpPr/>
          <p:nvPr/>
        </p:nvSpPr>
        <p:spPr>
          <a:xfrm>
            <a:off x="1920240" y="5669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Продавец товара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4370832" y="5760720"/>
            <a:ext cx="228600" cy="228600"/>
          </a:xfrm>
          <a:prstGeom prst="rect">
            <a:avLst/>
          </a:prstGeom>
          <a:solidFill>
            <a:srgbClr val="FF5A1F"/>
          </a:solidFill>
          <a:ln/>
        </p:spPr>
      </p:sp>
      <p:sp>
        <p:nvSpPr>
          <p:cNvPr id="29" name="Text 23"/>
          <p:cNvSpPr/>
          <p:nvPr/>
        </p:nvSpPr>
        <p:spPr>
          <a:xfrm>
            <a:off x="4690872" y="56692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2200" dirty="0"/>
          </a:p>
        </p:txBody>
      </p:sp>
      <p:sp>
        <p:nvSpPr>
          <p:cNvPr id="30" name="Text 24"/>
          <p:cNvSpPr/>
          <p:nvPr/>
        </p:nvSpPr>
        <p:spPr>
          <a:xfrm>
            <a:off x="5742432" y="5669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Хост (владелец полки)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8193024" y="5760720"/>
            <a:ext cx="228600" cy="228600"/>
          </a:xfrm>
          <a:prstGeom prst="rect">
            <a:avLst/>
          </a:prstGeom>
          <a:solidFill>
            <a:srgbClr val="E04A12"/>
          </a:solidFill>
          <a:ln/>
        </p:spPr>
      </p:sp>
      <p:sp>
        <p:nvSpPr>
          <p:cNvPr id="32" name="Text 26"/>
          <p:cNvSpPr/>
          <p:nvPr/>
        </p:nvSpPr>
        <p:spPr>
          <a:xfrm>
            <a:off x="8513064" y="56692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2200" dirty="0"/>
          </a:p>
        </p:txBody>
      </p:sp>
      <p:sp>
        <p:nvSpPr>
          <p:cNvPr id="33" name="Text 27"/>
          <p:cNvSpPr/>
          <p:nvPr/>
        </p:nvSpPr>
        <p:spPr>
          <a:xfrm>
            <a:off x="9564624" y="5669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Платформа NUKTA</a:t>
            </a:r>
            <a:endParaRPr lang="en-US" sz="1200" dirty="0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6446520"/>
            <a:ext cx="256032" cy="256032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13232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NUKTA</a:t>
            </a:r>
            <a:endParaRPr lang="en-US" sz="1100" dirty="0"/>
          </a:p>
        </p:txBody>
      </p:sp>
      <p:sp>
        <p:nvSpPr>
          <p:cNvPr id="36" name="Text 29"/>
          <p:cNvSpPr/>
          <p:nvPr/>
        </p:nvSpPr>
        <p:spPr>
          <a:xfrm>
            <a:off x="1463040" y="64465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&amp; SHARE</a:t>
            </a:r>
            <a:endParaRPr lang="en-US" sz="900" dirty="0"/>
          </a:p>
        </p:txBody>
      </p:sp>
      <p:sp>
        <p:nvSpPr>
          <p:cNvPr id="37" name="Text 30"/>
          <p:cNvSpPr/>
          <p:nvPr/>
        </p:nvSpPr>
        <p:spPr>
          <a:xfrm>
            <a:off x="11094415" y="64465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000" dirty="0"/>
          </a:p>
        </p:txBody>
      </p:sp>
      <p:sp>
        <p:nvSpPr>
          <p:cNvPr id="38" name="Shape 31"/>
          <p:cNvSpPr/>
          <p:nvPr/>
        </p:nvSpPr>
        <p:spPr>
          <a:xfrm>
            <a:off x="11780215" y="6547104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20040" cy="73152"/>
          </a:xfrm>
          <a:prstGeom prst="rect">
            <a:avLst/>
          </a:prstGeom>
          <a:solidFill>
            <a:srgbClr val="FF5A1F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FF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ТЕХНОЛОГИЯ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FastAPI: что происходит за 800 мс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3258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93B">
                <a:alpha val="6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80136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71907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51560" y="19933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965960" y="1691640"/>
            <a:ext cx="13258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93B">
                <a:alpha val="6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5688" y="1801368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468880" y="171907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SQLite/PG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2468880" y="19933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3383280" y="1691640"/>
            <a:ext cx="13258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93B">
                <a:alpha val="6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3008" y="1801368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886200" y="171907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PWA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3886200" y="19933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4800600" y="1691640"/>
            <a:ext cx="13258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93B">
                <a:alpha val="6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0328" y="1801368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303520" y="171907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+ QR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5303520" y="19933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6400800" y="2468880"/>
            <a:ext cx="5349240" cy="3840480"/>
          </a:xfrm>
          <a:prstGeom prst="roundRect">
            <a:avLst>
              <a:gd name="adj" fmla="val 2381"/>
            </a:avLst>
          </a:prstGeom>
          <a:solidFill>
            <a:srgbClr val="2C3E50"/>
          </a:solidFill>
          <a:ln/>
        </p:spPr>
      </p:sp>
      <p:sp>
        <p:nvSpPr>
          <p:cNvPr id="22" name="Shape 16"/>
          <p:cNvSpPr/>
          <p:nvPr/>
        </p:nvSpPr>
        <p:spPr>
          <a:xfrm>
            <a:off x="6583680" y="2606040"/>
            <a:ext cx="146304" cy="146304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3" name="Shape 17"/>
          <p:cNvSpPr/>
          <p:nvPr/>
        </p:nvSpPr>
        <p:spPr>
          <a:xfrm>
            <a:off x="6812280" y="2606040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4" name="Shape 18"/>
          <p:cNvSpPr/>
          <p:nvPr/>
        </p:nvSpPr>
        <p:spPr>
          <a:xfrm>
            <a:off x="7040880" y="2606040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5" name="Text 19"/>
          <p:cNvSpPr/>
          <p:nvPr/>
        </p:nvSpPr>
        <p:spPr>
          <a:xfrm>
            <a:off x="7498080" y="25420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/api/v1/buy/{item_id}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6583680" y="2880360"/>
            <a:ext cx="5074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@app.post("/buy/{item_id}")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buy(item_id: int, user=Depends(kyc)):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item = await db.get(Item, item_id)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1. CHECK EXPIRY (OCR result)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item.expires_at - now() &lt; 24h: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await db.block(item)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raise HTTPException(410, "EXPIRED")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2. SEAL &amp; HOST CHECK-IN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item.seal_ok or not item.host_ok: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raise HTTPException(409, "UNVERIFIED")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3. ESCROW (3-5h freeze)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tx = await escrow.freeze(user, item.price)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4. NOTIFY HOST + UNLOCK QR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ws.notify(item.host_id, item)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{"qr": tx.qr, "status": "OK"}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548640" y="2468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ПАЙПЛАЙН ПОКУПКИ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548640" y="2834640"/>
            <a:ext cx="502920" cy="502920"/>
          </a:xfrm>
          <a:prstGeom prst="ellipse">
            <a:avLst/>
          </a:prstGeom>
          <a:solidFill>
            <a:srgbClr val="FF5A1F"/>
          </a:solidFill>
          <a:ln/>
        </p:spPr>
      </p:sp>
      <p:sp>
        <p:nvSpPr>
          <p:cNvPr id="29" name="Text 23"/>
          <p:cNvSpPr/>
          <p:nvPr/>
        </p:nvSpPr>
        <p:spPr>
          <a:xfrm>
            <a:off x="54864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30" name="Text 24"/>
          <p:cNvSpPr/>
          <p:nvPr/>
        </p:nvSpPr>
        <p:spPr>
          <a:xfrm>
            <a:off x="1188720" y="281635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QR-SCAN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1188720" y="309067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Покупатель сканирует код на ценнике.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548640" y="3493008"/>
            <a:ext cx="502920" cy="502920"/>
          </a:xfrm>
          <a:prstGeom prst="ellipse">
            <a:avLst/>
          </a:prstGeom>
          <a:solidFill>
            <a:srgbClr val="FF5A1F"/>
          </a:solidFill>
          <a:ln/>
        </p:spPr>
      </p:sp>
      <p:sp>
        <p:nvSpPr>
          <p:cNvPr id="33" name="Text 27"/>
          <p:cNvSpPr/>
          <p:nvPr/>
        </p:nvSpPr>
        <p:spPr>
          <a:xfrm>
            <a:off x="548640" y="3493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1188720" y="34747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EXPIRY</a:t>
            </a:r>
            <a:endParaRPr lang="en-US" sz="1300" dirty="0"/>
          </a:p>
        </p:txBody>
      </p:sp>
      <p:sp>
        <p:nvSpPr>
          <p:cNvPr id="35" name="Text 29"/>
          <p:cNvSpPr/>
          <p:nvPr/>
        </p:nvSpPr>
        <p:spPr>
          <a:xfrm>
            <a:off x="1188720" y="374904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Бэкенд проверяет: товар не просрочен.</a:t>
            </a:r>
            <a:endParaRPr lang="en-US" sz="1100" dirty="0"/>
          </a:p>
        </p:txBody>
      </p:sp>
      <p:sp>
        <p:nvSpPr>
          <p:cNvPr id="36" name="Shape 30"/>
          <p:cNvSpPr/>
          <p:nvPr/>
        </p:nvSpPr>
        <p:spPr>
          <a:xfrm>
            <a:off x="548640" y="4151376"/>
            <a:ext cx="502920" cy="502920"/>
          </a:xfrm>
          <a:prstGeom prst="ellipse">
            <a:avLst/>
          </a:prstGeom>
          <a:solidFill>
            <a:srgbClr val="FF5A1F"/>
          </a:solidFill>
          <a:ln/>
        </p:spPr>
      </p:sp>
      <p:sp>
        <p:nvSpPr>
          <p:cNvPr id="37" name="Text 31"/>
          <p:cNvSpPr/>
          <p:nvPr/>
        </p:nvSpPr>
        <p:spPr>
          <a:xfrm>
            <a:off x="548640" y="41513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38" name="Text 32"/>
          <p:cNvSpPr/>
          <p:nvPr/>
        </p:nvSpPr>
        <p:spPr>
          <a:xfrm>
            <a:off x="1188720" y="413308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 &amp; HOST</a:t>
            </a:r>
            <a:endParaRPr lang="en-US" sz="1300" dirty="0"/>
          </a:p>
        </p:txBody>
      </p:sp>
      <p:sp>
        <p:nvSpPr>
          <p:cNvPr id="39" name="Text 33"/>
          <p:cNvSpPr/>
          <p:nvPr/>
        </p:nvSpPr>
        <p:spPr>
          <a:xfrm>
            <a:off x="1188720" y="4407408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Пломба цела. Хост подтвердил приёмку.</a:t>
            </a:r>
            <a:endParaRPr lang="en-US" sz="1100" dirty="0"/>
          </a:p>
        </p:txBody>
      </p:sp>
      <p:sp>
        <p:nvSpPr>
          <p:cNvPr id="40" name="Shape 34"/>
          <p:cNvSpPr/>
          <p:nvPr/>
        </p:nvSpPr>
        <p:spPr>
          <a:xfrm>
            <a:off x="548640" y="4809744"/>
            <a:ext cx="502920" cy="502920"/>
          </a:xfrm>
          <a:prstGeom prst="ellipse">
            <a:avLst/>
          </a:prstGeom>
          <a:solidFill>
            <a:srgbClr val="FF5A1F"/>
          </a:solidFill>
          <a:ln/>
        </p:spPr>
      </p:sp>
      <p:sp>
        <p:nvSpPr>
          <p:cNvPr id="41" name="Text 35"/>
          <p:cNvSpPr/>
          <p:nvPr/>
        </p:nvSpPr>
        <p:spPr>
          <a:xfrm>
            <a:off x="548640" y="48097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42" name="Text 36"/>
          <p:cNvSpPr/>
          <p:nvPr/>
        </p:nvSpPr>
        <p:spPr>
          <a:xfrm>
            <a:off x="1188720" y="479145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 FREEZE</a:t>
            </a:r>
            <a:endParaRPr lang="en-US" sz="1300" dirty="0"/>
          </a:p>
        </p:txBody>
      </p:sp>
      <p:sp>
        <p:nvSpPr>
          <p:cNvPr id="43" name="Text 37"/>
          <p:cNvSpPr/>
          <p:nvPr/>
        </p:nvSpPr>
        <p:spPr>
          <a:xfrm>
            <a:off x="1188720" y="5065776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Деньги замораживаются на 3-5 часов.</a:t>
            </a:r>
            <a:endParaRPr lang="en-US" sz="1100" dirty="0"/>
          </a:p>
        </p:txBody>
      </p:sp>
      <p:sp>
        <p:nvSpPr>
          <p:cNvPr id="44" name="Shape 38"/>
          <p:cNvSpPr/>
          <p:nvPr/>
        </p:nvSpPr>
        <p:spPr>
          <a:xfrm>
            <a:off x="548640" y="5468112"/>
            <a:ext cx="502920" cy="502920"/>
          </a:xfrm>
          <a:prstGeom prst="ellipse">
            <a:avLst/>
          </a:prstGeom>
          <a:solidFill>
            <a:srgbClr val="FF5A1F"/>
          </a:solidFill>
          <a:ln/>
        </p:spPr>
      </p:sp>
      <p:sp>
        <p:nvSpPr>
          <p:cNvPr id="45" name="Text 39"/>
          <p:cNvSpPr/>
          <p:nvPr/>
        </p:nvSpPr>
        <p:spPr>
          <a:xfrm>
            <a:off x="548640" y="5468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46" name="Text 40"/>
          <p:cNvSpPr/>
          <p:nvPr/>
        </p:nvSpPr>
        <p:spPr>
          <a:xfrm>
            <a:off x="1188720" y="544982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+ QR</a:t>
            </a:r>
            <a:endParaRPr lang="en-US" sz="1300" dirty="0"/>
          </a:p>
        </p:txBody>
      </p:sp>
      <p:sp>
        <p:nvSpPr>
          <p:cNvPr id="47" name="Text 41"/>
          <p:cNvSpPr/>
          <p:nvPr/>
        </p:nvSpPr>
        <p:spPr>
          <a:xfrm>
            <a:off x="1188720" y="5724144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Покупатель забирает товар у Хоста.</a:t>
            </a:r>
            <a:endParaRPr lang="en-US" sz="1100" dirty="0"/>
          </a:p>
        </p:txBody>
      </p:sp>
      <p:pic>
        <p:nvPicPr>
          <p:cNvPr id="4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6446520"/>
            <a:ext cx="256032" cy="256032"/>
          </a:xfrm>
          <a:prstGeom prst="rect">
            <a:avLst/>
          </a:prstGeom>
        </p:spPr>
      </p:pic>
      <p:sp>
        <p:nvSpPr>
          <p:cNvPr id="49" name="Text 42"/>
          <p:cNvSpPr/>
          <p:nvPr/>
        </p:nvSpPr>
        <p:spPr>
          <a:xfrm>
            <a:off x="713232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NUKTA</a:t>
            </a:r>
            <a:endParaRPr lang="en-US" sz="1100" dirty="0"/>
          </a:p>
        </p:txBody>
      </p:sp>
      <p:sp>
        <p:nvSpPr>
          <p:cNvPr id="50" name="Text 43"/>
          <p:cNvSpPr/>
          <p:nvPr/>
        </p:nvSpPr>
        <p:spPr>
          <a:xfrm>
            <a:off x="1463040" y="64465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&amp; SHARE</a:t>
            </a:r>
            <a:endParaRPr lang="en-US" sz="900" dirty="0"/>
          </a:p>
        </p:txBody>
      </p:sp>
      <p:sp>
        <p:nvSpPr>
          <p:cNvPr id="51" name="Text 44"/>
          <p:cNvSpPr/>
          <p:nvPr/>
        </p:nvSpPr>
        <p:spPr>
          <a:xfrm>
            <a:off x="11094415" y="64465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000" dirty="0"/>
          </a:p>
        </p:txBody>
      </p:sp>
      <p:sp>
        <p:nvSpPr>
          <p:cNvPr id="52" name="Shape 45"/>
          <p:cNvSpPr/>
          <p:nvPr/>
        </p:nvSpPr>
        <p:spPr>
          <a:xfrm>
            <a:off x="11780215" y="6547104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20040" cy="73152"/>
          </a:xfrm>
          <a:prstGeom prst="rect">
            <a:avLst/>
          </a:prstGeom>
          <a:solidFill>
            <a:srgbClr val="FF5A1F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FF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МАСШТАБИРОВАНИЕ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школьного буфета до Uber для ритейла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не строим магазины — мы строим софт. Нам всё равно: 10 полок или 10 миллионов.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783080" y="4160520"/>
            <a:ext cx="8641080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194560"/>
            <a:ext cx="24688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93B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194560"/>
            <a:ext cx="2468880" cy="54864"/>
          </a:xfrm>
          <a:prstGeom prst="rect">
            <a:avLst/>
          </a:prstGeom>
          <a:solidFill>
            <a:srgbClr val="FF5A1F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6192" y="2359152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2971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32461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Янгиер · MVP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48640" y="35661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Школа №9, 5 кафе, 3 аптеки.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точек.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1636776" y="4041648"/>
            <a:ext cx="292608" cy="292608"/>
          </a:xfrm>
          <a:prstGeom prst="ellipse">
            <a:avLst/>
          </a:prstGeom>
          <a:solidFill>
            <a:srgbClr val="FF5A1F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773936" y="3977640"/>
            <a:ext cx="18288" cy="7315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3429000" y="4572000"/>
            <a:ext cx="24688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93B">
                <a:alpha val="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429000" y="4572000"/>
            <a:ext cx="2468880" cy="54864"/>
          </a:xfrm>
          <a:prstGeom prst="rect">
            <a:avLst/>
          </a:prstGeom>
          <a:solidFill>
            <a:srgbClr val="FF5A1F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6552" y="4736592"/>
            <a:ext cx="502920" cy="5029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429000" y="5349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3429000" y="5623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Сырдарья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3429000" y="59436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Региональная экспансия.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 точек.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4517136" y="4041648"/>
            <a:ext cx="292608" cy="292608"/>
          </a:xfrm>
          <a:prstGeom prst="ellipse">
            <a:avLst/>
          </a:prstGeom>
          <a:solidFill>
            <a:srgbClr val="FF5A1F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654296" y="4197096"/>
            <a:ext cx="18288" cy="37490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Shape 19"/>
          <p:cNvSpPr/>
          <p:nvPr/>
        </p:nvSpPr>
        <p:spPr>
          <a:xfrm>
            <a:off x="6309360" y="2194560"/>
            <a:ext cx="24688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93B">
                <a:alpha val="6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309360" y="2194560"/>
            <a:ext cx="2468880" cy="54864"/>
          </a:xfrm>
          <a:prstGeom prst="rect">
            <a:avLst/>
          </a:prstGeom>
          <a:solidFill>
            <a:srgbClr val="FF5A1F"/>
          </a:solidFill>
          <a:ln/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6912" y="2359152"/>
            <a:ext cx="502920" cy="50292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309360" y="2971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6309360" y="32461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Узбекистан</a:t>
            </a:r>
            <a:endParaRPr lang="en-US" sz="1600" dirty="0"/>
          </a:p>
        </p:txBody>
      </p:sp>
      <p:sp>
        <p:nvSpPr>
          <p:cNvPr id="28" name="Text 23"/>
          <p:cNvSpPr/>
          <p:nvPr/>
        </p:nvSpPr>
        <p:spPr>
          <a:xfrm>
            <a:off x="6309360" y="35661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Ташкент + 5 областей.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Партнёрство с банками.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7397496" y="4041648"/>
            <a:ext cx="292608" cy="292608"/>
          </a:xfrm>
          <a:prstGeom prst="ellipse">
            <a:avLst/>
          </a:prstGeom>
          <a:solidFill>
            <a:srgbClr val="FF5A1F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7534656" y="3977640"/>
            <a:ext cx="18288" cy="7315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1" name="Shape 26"/>
          <p:cNvSpPr/>
          <p:nvPr/>
        </p:nvSpPr>
        <p:spPr>
          <a:xfrm>
            <a:off x="9189720" y="4572000"/>
            <a:ext cx="24688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93B">
                <a:alpha val="6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9189720" y="4572000"/>
            <a:ext cx="2468880" cy="54864"/>
          </a:xfrm>
          <a:prstGeom prst="rect">
            <a:avLst/>
          </a:prstGeom>
          <a:solidFill>
            <a:srgbClr val="FF5A1F"/>
          </a:solidFill>
          <a:ln/>
        </p:spPr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77272" y="4736592"/>
            <a:ext cx="502920" cy="50292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9189720" y="5349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2028+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9189720" y="5623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Глобал · Uber Retail</a:t>
            </a:r>
            <a:endParaRPr lang="en-US" sz="1600" dirty="0"/>
          </a:p>
        </p:txBody>
      </p:sp>
      <p:sp>
        <p:nvSpPr>
          <p:cNvPr id="36" name="Text 30"/>
          <p:cNvSpPr/>
          <p:nvPr/>
        </p:nvSpPr>
        <p:spPr>
          <a:xfrm>
            <a:off x="9189720" y="59436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Франшиза CIS + EMEA.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Общий стандарт пломбы.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10277856" y="4041648"/>
            <a:ext cx="292608" cy="292608"/>
          </a:xfrm>
          <a:prstGeom prst="ellipse">
            <a:avLst/>
          </a:prstGeom>
          <a:solidFill>
            <a:srgbClr val="FF5A1F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10415016" y="4197096"/>
            <a:ext cx="18288" cy="374904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6446520"/>
            <a:ext cx="256032" cy="256032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713232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NUKTA</a:t>
            </a:r>
            <a:endParaRPr lang="en-US" sz="1100" dirty="0"/>
          </a:p>
        </p:txBody>
      </p:sp>
      <p:sp>
        <p:nvSpPr>
          <p:cNvPr id="41" name="Text 34"/>
          <p:cNvSpPr/>
          <p:nvPr/>
        </p:nvSpPr>
        <p:spPr>
          <a:xfrm>
            <a:off x="1463040" y="64465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&amp; SHARE</a:t>
            </a:r>
            <a:endParaRPr lang="en-US" sz="900" dirty="0"/>
          </a:p>
        </p:txBody>
      </p:sp>
      <p:sp>
        <p:nvSpPr>
          <p:cNvPr id="42" name="Text 35"/>
          <p:cNvSpPr/>
          <p:nvPr/>
        </p:nvSpPr>
        <p:spPr>
          <a:xfrm>
            <a:off x="11094415" y="64465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  <p:sp>
        <p:nvSpPr>
          <p:cNvPr id="43" name="Shape 36"/>
          <p:cNvSpPr/>
          <p:nvPr/>
        </p:nvSpPr>
        <p:spPr>
          <a:xfrm>
            <a:off x="11780215" y="6547104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20040" cy="73152"/>
          </a:xfrm>
          <a:prstGeom prst="rect">
            <a:avLst/>
          </a:prstGeom>
          <a:solidFill>
            <a:srgbClr val="FF5A1F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FF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Четыре роли. Один продукт.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679192" cy="4297680"/>
          </a:xfrm>
          <a:prstGeom prst="roundRect">
            <a:avLst>
              <a:gd name="adj" fmla="val 51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77800" dist="38100" dir="5400000" algn="bl" rotWithShape="0">
              <a:srgbClr val="1E293B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28800"/>
            <a:ext cx="2679192" cy="91440"/>
          </a:xfrm>
          <a:prstGeom prst="rect">
            <a:avLst/>
          </a:prstGeom>
          <a:solidFill>
            <a:srgbClr val="FF5A1F"/>
          </a:solidFill>
          <a:ln/>
        </p:spPr>
      </p:sp>
      <p:sp>
        <p:nvSpPr>
          <p:cNvPr id="7" name="Shape 5"/>
          <p:cNvSpPr/>
          <p:nvPr/>
        </p:nvSpPr>
        <p:spPr>
          <a:xfrm>
            <a:off x="1293876" y="2240280"/>
            <a:ext cx="1188720" cy="1188720"/>
          </a:xfrm>
          <a:prstGeom prst="ellipse">
            <a:avLst/>
          </a:prstGeom>
          <a:solidFill>
            <a:srgbClr val="FFF4EE"/>
          </a:solidFill>
          <a:ln w="25400">
            <a:solidFill>
              <a:srgbClr val="FF5A1F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8196" y="2514600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361188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Садыков Диёрбек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22960" y="4114800"/>
            <a:ext cx="2130552" cy="365760"/>
          </a:xfrm>
          <a:prstGeom prst="roundRect">
            <a:avLst>
              <a:gd name="adj" fmla="val 12500"/>
            </a:avLst>
          </a:prstGeom>
          <a:solidFill>
            <a:srgbClr val="FFF4EE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4114800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E0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&amp; Product Vision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77240" y="4617720"/>
            <a:ext cx="22219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Стратегия развития, переговоры с госсектором и инвесторами. Лицо проекта на питче.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410712" y="1828800"/>
            <a:ext cx="2679192" cy="4297680"/>
          </a:xfrm>
          <a:prstGeom prst="roundRect">
            <a:avLst>
              <a:gd name="adj" fmla="val 51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77800" dist="38100" dir="5400000" algn="bl" rotWithShape="0">
              <a:srgbClr val="1E293B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410712" y="1828800"/>
            <a:ext cx="2679192" cy="91440"/>
          </a:xfrm>
          <a:prstGeom prst="rect">
            <a:avLst/>
          </a:prstGeom>
          <a:solidFill>
            <a:srgbClr val="FF5A1F"/>
          </a:solidFill>
          <a:ln/>
        </p:spPr>
      </p:sp>
      <p:sp>
        <p:nvSpPr>
          <p:cNvPr id="15" name="Shape 12"/>
          <p:cNvSpPr/>
          <p:nvPr/>
        </p:nvSpPr>
        <p:spPr>
          <a:xfrm>
            <a:off x="4155948" y="2240280"/>
            <a:ext cx="1188720" cy="1188720"/>
          </a:xfrm>
          <a:prstGeom prst="ellipse">
            <a:avLst/>
          </a:prstGeom>
          <a:solidFill>
            <a:srgbClr val="FFF4EE"/>
          </a:solidFill>
          <a:ln w="25400">
            <a:solidFill>
              <a:srgbClr val="FF5A1F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0268" y="2514600"/>
            <a:ext cx="640080" cy="6400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593592" y="361188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Буранов Акбаржон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3685032" y="4114800"/>
            <a:ext cx="2130552" cy="365760"/>
          </a:xfrm>
          <a:prstGeom prst="roundRect">
            <a:avLst>
              <a:gd name="adj" fmla="val 12500"/>
            </a:avLst>
          </a:prstGeom>
          <a:solidFill>
            <a:srgbClr val="FFF4EE"/>
          </a:solidFill>
          <a:ln/>
        </p:spPr>
      </p:sp>
      <p:sp>
        <p:nvSpPr>
          <p:cNvPr id="19" name="Text 15"/>
          <p:cNvSpPr/>
          <p:nvPr/>
        </p:nvSpPr>
        <p:spPr>
          <a:xfrm>
            <a:off x="3685032" y="4114800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E0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Fullstack Developer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3639312" y="4617720"/>
            <a:ext cx="22219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приложения, логика взаимодействия Front-End и API. PWA + интеграции.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272784" y="1828800"/>
            <a:ext cx="2679192" cy="4297680"/>
          </a:xfrm>
          <a:prstGeom prst="roundRect">
            <a:avLst>
              <a:gd name="adj" fmla="val 51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77800" dist="38100" dir="5400000" algn="bl" rotWithShape="0">
              <a:srgbClr val="1E293B">
                <a:alpha val="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272784" y="1828800"/>
            <a:ext cx="2679192" cy="91440"/>
          </a:xfrm>
          <a:prstGeom prst="rect">
            <a:avLst/>
          </a:prstGeom>
          <a:solidFill>
            <a:srgbClr val="FF5A1F"/>
          </a:solidFill>
          <a:ln/>
        </p:spPr>
      </p:sp>
      <p:sp>
        <p:nvSpPr>
          <p:cNvPr id="23" name="Shape 19"/>
          <p:cNvSpPr/>
          <p:nvPr/>
        </p:nvSpPr>
        <p:spPr>
          <a:xfrm>
            <a:off x="7018020" y="2240280"/>
            <a:ext cx="1188720" cy="1188720"/>
          </a:xfrm>
          <a:prstGeom prst="ellipse">
            <a:avLst/>
          </a:prstGeom>
          <a:solidFill>
            <a:srgbClr val="FFF4EE"/>
          </a:solidFill>
          <a:ln w="25400">
            <a:solidFill>
              <a:srgbClr val="FF5A1F"/>
            </a:solidFill>
            <a:prstDash val="solid"/>
          </a:ln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2340" y="2514600"/>
            <a:ext cx="640080" cy="64008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455664" y="361188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Захарян Валерик</a:t>
            </a:r>
            <a:endParaRPr lang="en-US" sz="1600" dirty="0"/>
          </a:p>
        </p:txBody>
      </p:sp>
      <p:sp>
        <p:nvSpPr>
          <p:cNvPr id="26" name="Shape 21"/>
          <p:cNvSpPr/>
          <p:nvPr/>
        </p:nvSpPr>
        <p:spPr>
          <a:xfrm>
            <a:off x="6547104" y="4114800"/>
            <a:ext cx="2130552" cy="365760"/>
          </a:xfrm>
          <a:prstGeom prst="roundRect">
            <a:avLst>
              <a:gd name="adj" fmla="val 12500"/>
            </a:avLst>
          </a:prstGeom>
          <a:solidFill>
            <a:srgbClr val="FFF4EE"/>
          </a:solidFill>
          <a:ln/>
        </p:spPr>
      </p:sp>
      <p:sp>
        <p:nvSpPr>
          <p:cNvPr id="27" name="Text 22"/>
          <p:cNvSpPr/>
          <p:nvPr/>
        </p:nvSpPr>
        <p:spPr>
          <a:xfrm>
            <a:off x="6547104" y="4114800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E0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Data Architect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6501384" y="4617720"/>
            <a:ext cx="22219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Безопасность данных, алгоритмы доверия на FastAPI, OCR-пайплайн, работа с БД.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9134856" y="1828800"/>
            <a:ext cx="2679192" cy="4297680"/>
          </a:xfrm>
          <a:prstGeom prst="roundRect">
            <a:avLst>
              <a:gd name="adj" fmla="val 51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77800" dist="38100" dir="5400000" algn="bl" rotWithShape="0">
              <a:srgbClr val="1E293B">
                <a:alpha val="8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9134856" y="1828800"/>
            <a:ext cx="2679192" cy="91440"/>
          </a:xfrm>
          <a:prstGeom prst="rect">
            <a:avLst/>
          </a:prstGeom>
          <a:solidFill>
            <a:srgbClr val="FF5A1F"/>
          </a:solidFill>
          <a:ln/>
        </p:spPr>
      </p:sp>
      <p:sp>
        <p:nvSpPr>
          <p:cNvPr id="31" name="Shape 26"/>
          <p:cNvSpPr/>
          <p:nvPr/>
        </p:nvSpPr>
        <p:spPr>
          <a:xfrm>
            <a:off x="9880092" y="2240280"/>
            <a:ext cx="1188720" cy="1188720"/>
          </a:xfrm>
          <a:prstGeom prst="ellipse">
            <a:avLst/>
          </a:prstGeom>
          <a:solidFill>
            <a:srgbClr val="FFF4EE"/>
          </a:solidFill>
          <a:ln w="25400">
            <a:solidFill>
              <a:srgbClr val="FF5A1F"/>
            </a:solidFill>
            <a:prstDash val="solid"/>
          </a:ln>
        </p:spPr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4412" y="2514600"/>
            <a:ext cx="640080" cy="64008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9317736" y="361188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Носиров Темурбек</a:t>
            </a:r>
            <a:endParaRPr lang="en-US" sz="1600" dirty="0"/>
          </a:p>
        </p:txBody>
      </p:sp>
      <p:sp>
        <p:nvSpPr>
          <p:cNvPr id="34" name="Shape 28"/>
          <p:cNvSpPr/>
          <p:nvPr/>
        </p:nvSpPr>
        <p:spPr>
          <a:xfrm>
            <a:off x="9409176" y="4114800"/>
            <a:ext cx="2130552" cy="365760"/>
          </a:xfrm>
          <a:prstGeom prst="roundRect">
            <a:avLst>
              <a:gd name="adj" fmla="val 12500"/>
            </a:avLst>
          </a:prstGeom>
          <a:solidFill>
            <a:srgbClr val="FFF4EE"/>
          </a:solidFill>
          <a:ln/>
        </p:spPr>
      </p:sp>
      <p:sp>
        <p:nvSpPr>
          <p:cNvPr id="35" name="Text 29"/>
          <p:cNvSpPr/>
          <p:nvPr/>
        </p:nvSpPr>
        <p:spPr>
          <a:xfrm>
            <a:off x="9409176" y="4114800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E0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Growth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9363456" y="4617720"/>
            <a:ext cx="22219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Масштабирование сети, привлечение Хозяев точек, упаковка продукта для рынка.</a:t>
            </a:r>
            <a:endParaRPr lang="en-US" sz="1100" dirty="0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6446520"/>
            <a:ext cx="256032" cy="256032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713232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NUKTA</a:t>
            </a:r>
            <a:endParaRPr lang="en-US" sz="1100" dirty="0"/>
          </a:p>
        </p:txBody>
      </p:sp>
      <p:sp>
        <p:nvSpPr>
          <p:cNvPr id="39" name="Text 32"/>
          <p:cNvSpPr/>
          <p:nvPr/>
        </p:nvSpPr>
        <p:spPr>
          <a:xfrm>
            <a:off x="1463040" y="64465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&amp; SHARE</a:t>
            </a:r>
            <a:endParaRPr lang="en-US" sz="900" dirty="0"/>
          </a:p>
        </p:txBody>
      </p:sp>
      <p:sp>
        <p:nvSpPr>
          <p:cNvPr id="40" name="Text 33"/>
          <p:cNvSpPr/>
          <p:nvPr/>
        </p:nvSpPr>
        <p:spPr>
          <a:xfrm>
            <a:off x="11094415" y="64465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  <p:sp>
        <p:nvSpPr>
          <p:cNvPr id="41" name="Shape 34"/>
          <p:cNvSpPr/>
          <p:nvPr/>
        </p:nvSpPr>
        <p:spPr>
          <a:xfrm>
            <a:off x="11780215" y="6547104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20040" cy="73152"/>
          </a:xfrm>
          <a:prstGeom prst="rect">
            <a:avLst/>
          </a:prstGeom>
          <a:solidFill>
            <a:srgbClr val="FF5A1F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FF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5570" y="822960"/>
            <a:ext cx="11881899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3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Самые популярные</a:t>
            </a:r>
            <a:r>
              <a:rPr lang="en-US" sz="3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</a:t>
            </a:r>
            <a:r>
              <a:rPr lang="ru-RU" sz="3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ы</a:t>
            </a:r>
            <a:r>
              <a:rPr lang="en-US" sz="3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3200" b="1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которые</a:t>
            </a:r>
            <a:r>
              <a:rPr lang="en-US" sz="3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3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нам дадут в теории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155680" cy="1143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91440" cy="1143000"/>
          </a:xfrm>
          <a:prstGeom prst="rect">
            <a:avLst/>
          </a:prstGeom>
          <a:solidFill>
            <a:srgbClr val="FF5A1F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965960"/>
            <a:ext cx="457200" cy="457200"/>
          </a:xfrm>
          <a:prstGeom prst="ellipse">
            <a:avLst/>
          </a:prstGeom>
          <a:solidFill>
            <a:srgbClr val="FF5A1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17320" y="19476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налоги? Это «серая» торговля?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17320" y="23317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Нет. KYC = автоматическая выдача чека через интеграцию с Soliq.uz. Налог удерживается на этапе Escrow — продавец получает уже «белые» деньги.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063240"/>
            <a:ext cx="11155680" cy="1143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063240"/>
            <a:ext cx="91440" cy="1143000"/>
          </a:xfrm>
          <a:prstGeom prst="rect">
            <a:avLst/>
          </a:prstGeom>
          <a:solidFill>
            <a:srgbClr val="FF5A1F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3246120"/>
            <a:ext cx="457200" cy="457200"/>
          </a:xfrm>
          <a:prstGeom prst="ellipse">
            <a:avLst/>
          </a:prstGeom>
          <a:solidFill>
            <a:srgbClr val="FF5A1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17320" y="322783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отвечает, если кто-то отравится?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17320" y="36118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Цепочка: продавец (KYC + сертификат) → Хост (приёмка) → Insurance Fund (1% с каждой сделки). Доказательная база готова с первой минуты сделки.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343400"/>
            <a:ext cx="11155680" cy="1143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4343400"/>
            <a:ext cx="91440" cy="1143000"/>
          </a:xfrm>
          <a:prstGeom prst="rect">
            <a:avLst/>
          </a:prstGeom>
          <a:solidFill>
            <a:srgbClr val="FF5A1F"/>
          </a:solidFill>
          <a:ln/>
        </p:spPr>
      </p:sp>
      <p:sp>
        <p:nvSpPr>
          <p:cNvPr id="19" name="Shape 17"/>
          <p:cNvSpPr/>
          <p:nvPr/>
        </p:nvSpPr>
        <p:spPr>
          <a:xfrm>
            <a:off x="777240" y="4526280"/>
            <a:ext cx="457200" cy="457200"/>
          </a:xfrm>
          <a:prstGeom prst="ellipse">
            <a:avLst/>
          </a:prstGeom>
          <a:solidFill>
            <a:srgbClr val="FF5A1F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17320" y="450799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убьёт ли вас Uzum или Wildberries?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17320" y="48920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Они работают со складами и логистикой. Мы — нет. Мы продаём не товар, а пустой метр у тебя за углом. Это другая категория: hyper-local, без доставки.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5669280"/>
            <a:ext cx="11155680" cy="640080"/>
          </a:xfrm>
          <a:prstGeom prst="roundRect">
            <a:avLst>
              <a:gd name="adj" fmla="val 17143"/>
            </a:avLst>
          </a:prstGeom>
          <a:solidFill>
            <a:srgbClr val="FF5A1F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56692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NUKTA · Мы не меняем способ покупки — мы возвращаем доверие в каждую точку города.</a:t>
            </a:r>
            <a:endParaRPr lang="en-US" sz="140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446520"/>
            <a:ext cx="256032" cy="256032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713232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NUKTA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1463040" y="64465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&amp; SHARE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094415" y="64465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11780215" y="6547104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43F0B4EC-5CE1-093D-0BAF-9E17D16D16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29248" y1="56152" x2="29932" y2="52148"/>
                        <a14:foregroundMark x1="38818" y1="52979" x2="38818" y2="52979"/>
                        <a14:foregroundMark x1="38672" y1="51172" x2="38672" y2="51172"/>
                        <a14:foregroundMark x1="48730" y1="51758" x2="48730" y2="51758"/>
                        <a14:foregroundMark x1="59229" y1="51221" x2="59229" y2="51221"/>
                        <a14:foregroundMark x1="64893" y1="52100" x2="64893" y2="52100"/>
                        <a14:foregroundMark x1="40869" y1="60400" x2="40869" y2="60400"/>
                        <a14:foregroundMark x1="42578" y1="60889" x2="42578" y2="60889"/>
                        <a14:foregroundMark x1="45313" y1="60938" x2="45313" y2="60938"/>
                        <a14:foregroundMark x1="48682" y1="61084" x2="48682" y2="61084"/>
                        <a14:foregroundMark x1="50977" y1="60986" x2="50977" y2="60986"/>
                        <a14:foregroundMark x1="54102" y1="60938" x2="54102" y2="60938"/>
                        <a14:foregroundMark x1="55273" y1="60205" x2="55273" y2="60205"/>
                        <a14:foregroundMark x1="58203" y1="59912" x2="58203" y2="59912"/>
                        <a14:foregroundMark x1="59814" y1="62012" x2="59814" y2="62012"/>
                      </a14:backgroundRemoval>
                    </a14:imgEffect>
                    <a14:imgEffect>
                      <a14:brightnessContrast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795145" y="-1014984"/>
            <a:ext cx="2980944" cy="29809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1360</Words>
  <Application>Microsoft Office PowerPoint</Application>
  <PresentationFormat>Широкоэкранный</PresentationFormat>
  <Paragraphs>259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NUKTA — Safe &amp; Share</dc:title>
  <dc:subject>PptxGenJS Presentation</dc:subject>
  <dc:creator>NUKTA Team</dc:creator>
  <cp:lastModifiedBy>zuhrasanginova022@gmail.com</cp:lastModifiedBy>
  <cp:revision>2</cp:revision>
  <dcterms:created xsi:type="dcterms:W3CDTF">2026-04-29T10:00:54Z</dcterms:created>
  <dcterms:modified xsi:type="dcterms:W3CDTF">2026-04-30T07:53:28Z</dcterms:modified>
</cp:coreProperties>
</file>